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1: Introduction to Wave Nature of 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 exhibits dual nature: Wave-like and Particle-like (Photons).</a:t>
            </a:r>
          </a:p>
          <a:p>
            <a:r>
              <a:t>Electromagnetic wave model: Oscillating electric (E) and magnetic (B) fields.</a:t>
            </a:r>
          </a:p>
          <a:p>
            <a:r>
              <a:t>Speed of light in vacuum c = 3.0 x 10^8 m/s.</a:t>
            </a:r>
          </a:p>
          <a:p>
            <a:r>
              <a:t>Wave equation: v = f * lambda, where v is wave speed, f is frequency, lambda is wavelength.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2: Reflection and the Law of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Specular reflection occurs on smooth surfaces; diffuse reflection on rough surfaces.</a:t>
            </a:r>
          </a:p>
          <a:p>
            <a:r>
              <a:t>Law of Reflection: Angle of incidence (theta_i) equals angle of reflection (theta_r).</a:t>
            </a:r>
          </a:p>
          <a:p>
            <a:r>
              <a:t>Incident ray, reflected ray, and the normal to the surface lie in the same plane.</a:t>
            </a:r>
          </a:p>
          <a:p>
            <a:r>
              <a:t>Phase shift of pi radians (180 degrees) occurs when reflecting off a denser medium.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3: Refraction and Snell's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Refraction is the bending of light as it passes between media of different optical densities.</a:t>
            </a:r>
          </a:p>
          <a:p>
            <a:r>
              <a:t>Index of refraction n = c / v (v = speed of light in the medium).</a:t>
            </a:r>
          </a:p>
          <a:p>
            <a:r>
              <a:t>Snell's Law: n1 * sin(theta1) = n2 * sin(theta2).</a:t>
            </a:r>
          </a:p>
          <a:p>
            <a:r>
              <a:t>Light bends towards the normal when entering a denser medium (n2 &gt; n1).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4: Total Internal Reflection &amp; Critical 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Occurs only when light travels from denser to rarer medium (n1 &gt; n2).</a:t>
            </a:r>
          </a:p>
          <a:p>
            <a:r>
              <a:t>Critical angle theta_c: sin(theta_c) = n2 / n1 (when theta2 = 90 degrees).</a:t>
            </a:r>
          </a:p>
          <a:p>
            <a:r>
              <a:t>For angles of incidence greater than theta_c, 100% of light is reflected internally.</a:t>
            </a:r>
          </a:p>
          <a:p>
            <a:r>
              <a:t>Applications: Optical fibers, fiber-optic communications, prisms in binoculars.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5: Brewster's Angle &amp; Polarization by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light strikes an interface at Brewster's angle theta_B, the reflected light is completely polarized.</a:t>
            </a:r>
          </a:p>
          <a:p>
            <a:r>
              <a:t>Condition: tan(theta_B) = n2 / n1.</a:t>
            </a:r>
          </a:p>
          <a:p>
            <a:r>
              <a:t>At Brewster's angle, the reflected ray and refracted ray are perpendicular (90 degrees).</a:t>
            </a:r>
          </a:p>
          <a:p>
            <a:r>
              <a:t>Used in polarizing sunglasses and laser cavity Brewster windows.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6: Huygens' Principle &amp; Wavefronts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point on a primary wavefront serves as a source of secondary spherical wavelets.</a:t>
            </a:r>
          </a:p>
          <a:p>
            <a:r>
              <a:t>The new wavefront is the tangential surface envelope of these secondary wavelets.</a:t>
            </a:r>
          </a:p>
          <a:p>
            <a:r>
              <a:t>Explains the laws of reflection and refraction from wave kinematics.</a:t>
            </a:r>
          </a:p>
          <a:p>
            <a:r>
              <a:t>Predicts that wave speed is slower in denser optical media (n &gt; 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7: Fermat's Principle of Least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 travels along the path that takes the extremum (least) optical time.</a:t>
            </a:r>
          </a:p>
          <a:p>
            <a:r>
              <a:t>Optical path length (OPL) = integral of n(s) ds.</a:t>
            </a:r>
          </a:p>
          <a:p>
            <a:r>
              <a:t>Derives rectilinear propagation, the law of reflection, and Snell's law of refraction.</a:t>
            </a:r>
          </a:p>
          <a:p>
            <a:r>
              <a:t>Fundamental variational principle in classical geometrical optics.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8: Fresnel Coefficients &amp; Reflectance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Describe amplitude ratios of reflected and transmitted electric fields at an interface.</a:t>
            </a:r>
          </a:p>
          <a:p>
            <a:r>
              <a:t>Depends on polarization: s-polarization (TE mode) vs p-polarization (TM mode).</a:t>
            </a:r>
          </a:p>
          <a:p>
            <a:r>
              <a:t>r_s = (n1*cos(theta1) - n2*cos(theta2)) / (n1*cos(theta1) + n2*cos(theta2)).</a:t>
            </a:r>
          </a:p>
          <a:p>
            <a:r>
              <a:t>Reflectance R = |r|^2; Transmittance T = 1 - R (conservation of energy).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9: Thin Film Interference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Interference between rays reflected from upper and lower boundaries of thin dielectric films.</a:t>
            </a:r>
          </a:p>
          <a:p>
            <a:r>
              <a:t>Path difference depends on film thickness d, refractive index n, and incidence angle.</a:t>
            </a:r>
          </a:p>
          <a:p>
            <a:r>
              <a:t>Condition for constructive interference depends on whether reflection undergoes phase change.</a:t>
            </a:r>
          </a:p>
          <a:p>
            <a:r>
              <a:t>Applications: Anti-reflective lens coatings, oil slicks, iridescent soap bubbles.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10: Polarization of Light (Linear, Circular, Elliptical)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polarization: Electric field oscillates in a single fixed plane.</a:t>
            </a:r>
          </a:p>
          <a:p>
            <a:r>
              <a:t>Circular polarization: Two orthogonal E-field components equal in magnitude with 90 deg phase difference.</a:t>
            </a:r>
          </a:p>
          <a:p>
            <a:r>
              <a:t>Elliptical polarization: General case with unequal magnitudes or arbitrary phase shift.</a:t>
            </a:r>
          </a:p>
          <a:p>
            <a:r>
              <a:t>Jones vectors and Jones matrices represent polarized states and optical components.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